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SvPzH1PpYBdwUAIJ4Kyna9Ach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498080" y="2926080"/>
            <a:ext cx="1828800" cy="18288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31520" y="777240"/>
            <a:ext cx="7863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Facial Expression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Recognition (FER)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288036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Custom CNN vs. ResNet-18 on FER2013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731520" y="3429000"/>
            <a:ext cx="6400800" cy="0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731520" y="356616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Eric Amargant  ·  Eya Ben Said  ·  Marc Bosch Manzano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Group Beta  ·  Aprenentatge Profund 2025-26  ·  Prof. Laia Tarrés Benet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20040" y="82296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What is Facial Expression Recognition?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20040" y="1234440"/>
            <a:ext cx="50292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FER is the task of automatically classifying human emotions from facial images using deep learning. It has real-world applications in: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Human-computer interaction &amp; affective computing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Mental health monitoring &amp; therapy assistance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Automotive safety (driver drowsiness detection)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Market research &amp; user experience studies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20040" y="379476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Project Goal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20040" y="4114800"/>
            <a:ext cx="5303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Design, train, and compare two architectures — a Custom CNN baseline and a transfer-learned ResNet-18 — on the FER2013 benchmark, analysing performance across 7 emotion classes.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852160" y="822960"/>
            <a:ext cx="3017520" cy="4114800"/>
          </a:xfrm>
          <a:prstGeom prst="rect">
            <a:avLst/>
          </a:prstGeom>
          <a:solidFill>
            <a:srgbClr val="1A2B4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989320" y="9144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7 Emotion Classes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989320" y="137160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😠 Angry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989320" y="1773936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🤢 Disgust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989320" y="21762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😨 Fear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989320" y="2578608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😊 Happy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989320" y="2980944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😐 Neutral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989320" y="33832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😢 Sad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989320" y="3785616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😲 Surprise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State of the Art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FER2013 Benchmark — Selected Methods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320040" y="1188720"/>
            <a:ext cx="850392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365760" y="12344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657600" y="12344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7132320" y="12344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Acc.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320040" y="1554480"/>
            <a:ext cx="8503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365760" y="16276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Human-level benchmark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657600" y="16276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7132320" y="16276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~65%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20040" y="1993392"/>
            <a:ext cx="8503920" cy="42062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365760" y="206654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VGG-Face + SVM (Mollahosseini et al.)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657600" y="206654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2016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132320" y="206654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75.2%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20040" y="2432304"/>
            <a:ext cx="8503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365760" y="250545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ResMaskNet (Pham et al.)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657600" y="250545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2021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132320" y="250545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76.8%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20040" y="2871216"/>
            <a:ext cx="8503920" cy="42062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365760" y="294436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EfficientNet-B4 + attention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657600" y="294436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2022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7132320" y="294436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~73%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20040" y="3310128"/>
            <a:ext cx="8503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365760" y="33832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ResNet-18 (ours, fine-tuned)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657600" y="33832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132320" y="33832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63.4%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20040" y="3749040"/>
            <a:ext cx="8503920" cy="42062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365760" y="38221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Custom CNN (ours, scratch)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657600" y="38221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132320" y="38221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57.1%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Our models are positioned as educational implementations — competitive for single-GPU fine-tuning on a noisy benchmark.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 – Data Analysis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20040" y="77724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FER2013 Dataset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320040" y="1188720"/>
            <a:ext cx="18288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20040" y="118872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320040" y="13258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35,887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20040" y="16916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Total samples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331720" y="1188720"/>
            <a:ext cx="18288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2331720" y="118872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2331720" y="13258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28,709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2331720" y="16916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Training images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343400" y="1188720"/>
            <a:ext cx="18288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4343400" y="118872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4343400" y="13258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3,589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343400" y="16916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Validation / Test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355080" y="1188720"/>
            <a:ext cx="18288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6355080" y="118872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6355080" y="13258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48×48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355080" y="16916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Image size (grayscale)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20040" y="23317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Class Distribution (training set)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1463040" y="2743200"/>
            <a:ext cx="4389120" cy="23774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320040" y="2743200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Happy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897880" y="274320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7215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463040" y="3063240"/>
            <a:ext cx="3020372" cy="23774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320040" y="3063240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Neutral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529132" y="306324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4965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463040" y="3383280"/>
            <a:ext cx="2938247" cy="23774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320040" y="3383280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447007" y="338328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4830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463040" y="3703320"/>
            <a:ext cx="2492339" cy="23774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320040" y="3703320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Fear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001099" y="370332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4097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463040" y="4023360"/>
            <a:ext cx="2430289" cy="237744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320040" y="4023360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Angry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3939049" y="402336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3995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463040" y="4343400"/>
            <a:ext cx="1929023" cy="237744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320040" y="4343400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Surprise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437783" y="434340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3171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463040" y="4663440"/>
            <a:ext cx="265233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320040" y="4663440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Disgust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773993" y="466344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436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989320" y="2331720"/>
            <a:ext cx="2834640" cy="2606040"/>
          </a:xfrm>
          <a:prstGeom prst="rect">
            <a:avLst/>
          </a:prstGeom>
          <a:solidFill>
            <a:srgbClr val="1A2B4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6080760" y="242316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Key 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080760" y="2788920"/>
            <a:ext cx="265176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Severe class imbalance: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Happy (7,215) vs Disgust (436)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— a 16.5× ratio.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Mitigation strategies: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WeightedRandomSampler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Inverse-frequency loss weights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Label smoothing (ε = 0.1)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 – Models &amp; Optimization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274320" y="777240"/>
            <a:ext cx="411480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274320" y="777240"/>
            <a:ext cx="411480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365760" y="79552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 CNN (Baseline)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11480" y="128016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4 Conv blocks: 32→64→128→256 channels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11480" y="168249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BatchNorm + ReLU + MaxPool per block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11480" y="208483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Global Average Pooling (1×1 output)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11480" y="248716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Dropout (0.5) → FC(256→128) → FC(7)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11480" y="2889504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~1.2M trainable parameters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11480" y="329184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Optimizer: Adam, lr = 1e-3, wd = 1e-4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11480" y="369417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Scheduler: CosineAnnealing (T_max = 60)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11480" y="409651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Early stopping (patience = 7)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663440" y="777240"/>
            <a:ext cx="420624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4663440" y="777240"/>
            <a:ext cx="420624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4754880" y="795528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ResNet-18 (Transfer Learning)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754880" y="128016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Pre-trained on ImageNet (IMAGENET1K_V1)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754880" y="1682496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Stage 1: Frozen backbone, train head only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754880" y="208483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 · Dropout(0.5) → FC(512 → 7)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754880" y="248716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 · Adam head-only, lr=1e-3, T_max=10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754880" y="2889504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Stage 2: Unfreeze layer3 + layer4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754880" y="32918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 · Discriminative LR: 1e-4 (backbone)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754880" y="3694176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 · 1e-3 (head), CosineAnnealing T_max=30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754880" y="409651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 · Early stopping (patience = 7)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Experimental Setup &amp; Ablations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20040" y="1261872"/>
            <a:ext cx="41605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320040" y="1261872"/>
            <a:ext cx="54864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429768" y="1353312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Experiment 1 – Custom CNN Baseline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29768" y="1609344"/>
            <a:ext cx="3977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Trained from scratch for up to 60 epochs with early stopping. Adam + CosineAnnealing. Used as the lower-bound reference.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20040" y="2450592"/>
            <a:ext cx="41605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320040" y="2450592"/>
            <a:ext cx="54864" cy="10515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429768" y="2542032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Experiment 2 – ResNet-18 Stage 1 (Head Only)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29768" y="2798064"/>
            <a:ext cx="3977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Backbone frozen; only the custom FC head trained for 10 epochs. Validates that ImageNet features transfer to grayscale emotion data.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20040" y="3639312"/>
            <a:ext cx="41605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320040" y="3639312"/>
            <a:ext cx="54864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429768" y="3730752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Experiment 3 – ResNet-18 Stage 2 (Fine-Tune)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29768" y="3986784"/>
            <a:ext cx="3977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layer3 &amp; layer4 unfrozen with discriminative LRs (1e-4 backbone / 1e-3 head). Allows adaptation of high-level features to facial cues.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663440" y="1261872"/>
            <a:ext cx="41605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4663440" y="1261872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4773168" y="1353312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Experiment 4 – Test-Time Augmentation (TTA)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773168" y="1609344"/>
            <a:ext cx="3977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5 augmented views per image (random flips + affine shifts) averaged at inference. Provides a final accuracy boost without retraining.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4663440" y="2450592"/>
            <a:ext cx="41605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4663440" y="2450592"/>
            <a:ext cx="54864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4773168" y="2542032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Qualitative Analysis – Grad-CAM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773168" y="2798064"/>
            <a:ext cx="3977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Gradient-weighted Class Activation Maps from layer4 verify the network attends to discriminative facial regions (teeth for Happy, brows for Angry).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– Custom CNN Training Curves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20040" y="74980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Loss and accuracy over 42 epochs (early stopping triggered). Validation loss shows high volatility in early epochs before stabilising around epoch 15. A widening gap between train and val accuracy in later epochs indicates overfitting.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20040" y="4864608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Figure 1: Custom CNN – Cross-entropy loss (left) and classification accuracy (right) on training and validation sets.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96568"/>
            <a:ext cx="8839200" cy="3118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– ResNet-18 Training Curves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320040" y="74980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Stage 1 (epochs 1–10): frozen backbone — minimal improvement. Stage 2 (epochs 11–28): unfreezing layer3/layer4 causes a sharp accuracy jump. Early stopping triggers at epoch 28. Train/val gap confirms mild overfitting.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320040" y="4864608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Figure 2: ResNet-18 – Cross-entropy loss (left) and accuracy (right). Dashed vertical line marks the transition from Stage 1 to Stage 2 fine-tuning.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96568"/>
            <a:ext cx="8839200" cy="3118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– Confusion Matrix (ResNet-18, Test Set)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6035040" y="80467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Key observations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6035040" y="1188720"/>
            <a:ext cx="2834640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6035040" y="1188720"/>
            <a:ext cx="54864" cy="69494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6144768" y="128016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Happy &amp; Surprise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144768" y="1536192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Highest diagonal counts — visually distinct cues (teeth, raised eyebrows).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035040" y="1956816"/>
            <a:ext cx="2834640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6035040" y="1956816"/>
            <a:ext cx="54864" cy="69494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6144768" y="204825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Sad ↔ Fear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6144768" y="2304288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97 Fear predicted as Sad; 85 Sad predicted as Fear — highest confusion pair.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6035040" y="2724912"/>
            <a:ext cx="2834640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6035040" y="2724912"/>
            <a:ext cx="54864" cy="69494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6144768" y="281635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Sad → Neutral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144768" y="3072384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100 Sad faces predicted as Neutral — subtle expression overlap.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6035040" y="3493008"/>
            <a:ext cx="2834640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6035040" y="3493008"/>
            <a:ext cx="54864" cy="69494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6144768" y="3584448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Disgust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6144768" y="3840480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Small class (100 test samples) but 62 correct — high recall thanks to loss weighting.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6035040" y="4261104"/>
            <a:ext cx="2834640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6035040" y="4261104"/>
            <a:ext cx="54864" cy="69494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6144768" y="4352544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Angry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144768" y="4608576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Confused with Sad (60) and Neutral (55) — shared furrowed-brow features.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457200" y="4919472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Figure 3: Confusion matrix for ResNet-18 on the test set. Rows = true labels, columns = predicted labels.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175" y="810768"/>
            <a:ext cx="4770499" cy="3956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320040" y="80467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What worked well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320040" y="1170432"/>
            <a:ext cx="4023360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320040" y="1170432"/>
            <a:ext cx="54864" cy="87782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429768" y="126187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Transfer Learning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429768" y="1517904"/>
            <a:ext cx="3840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ResNet-18 leveraged ImageNet features to jump 6 pp. over the from-scratch CNN.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320040" y="2121408"/>
            <a:ext cx="4023360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320040" y="2121408"/>
            <a:ext cx="54864" cy="87782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429768" y="22128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Staged Fine-Tuning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429768" y="2468880"/>
            <a:ext cx="3840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Two-stage strategy prevented catastrophic forgetting while enabling task-specific adaptation.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320040" y="3072384"/>
            <a:ext cx="4023360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320040" y="3072384"/>
            <a:ext cx="54864" cy="87782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429768" y="316382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Imbalance Mitigation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29768" y="3419856"/>
            <a:ext cx="3840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Combining WeightedRandomSampler + loss weights significantly improved minority-class recall (especially Disgust).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320040" y="4023360"/>
            <a:ext cx="4023360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320040" y="4023360"/>
            <a:ext cx="54864" cy="87782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429768" y="411480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Grad-CAM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429768" y="4370832"/>
            <a:ext cx="3840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Heatmaps confirmed the model attends to genuine facial features, not background artifacts.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4663440" y="80467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Limitations &amp; Challenges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4663440" y="1170432"/>
            <a:ext cx="4206240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4663440" y="1170432"/>
            <a:ext cx="54864" cy="87782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4773168" y="1261872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Negative Emotion Confusion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4773168" y="1517904"/>
            <a:ext cx="4023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Fear, Sad and Angry share visual features — confusion matrix shows systematic misclassification chains between these classes.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4663440" y="2121408"/>
            <a:ext cx="4206240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4663440" y="2121408"/>
            <a:ext cx="54864" cy="87782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4773168" y="2212848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Overfitting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4773168" y="2468880"/>
            <a:ext cx="4023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Train accuracy consistently pulled ahead of val in late epochs despite dropout, L2 regularisation, and label smoothing.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4663440" y="3072384"/>
            <a:ext cx="4206240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4663440" y="3072384"/>
            <a:ext cx="54864" cy="87782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4773168" y="316382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Dataset Noise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4773168" y="3419856"/>
            <a:ext cx="4023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FER2013 images are scraped from the web and inconsistently labelled — this creates a hard ceiling on achievable accuracy.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4663440" y="4023360"/>
            <a:ext cx="4206240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4663440" y="4023360"/>
            <a:ext cx="54864" cy="87782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4773168" y="411480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Architecture Scope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4773168" y="4370832"/>
            <a:ext cx="4023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 attention-based or transformer-based models (ViT, DeiT) were explored — these currently dominate the SOTA.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4A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7132320" y="3200400"/>
            <a:ext cx="2743200" cy="2743200"/>
          </a:xfrm>
          <a:prstGeom prst="ellipse">
            <a:avLst/>
          </a:prstGeom>
          <a:solidFill>
            <a:srgbClr val="0F2A3A"/>
          </a:solidFill>
          <a:ln cap="flat" cmpd="sng" w="12700">
            <a:solidFill>
              <a:srgbClr val="0F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640080" y="3200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640080" y="960120"/>
            <a:ext cx="8138160" cy="713232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640080" y="960120"/>
            <a:ext cx="54864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749808" y="101498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Main Finding: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2423160" y="1014984"/>
            <a:ext cx="6217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ResNet-18 fine-tuning (63.4%) substantially outperforms a from-scratch CNN (57.1%) on FER2013, approaching the human-level ceiling of ~65%.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640080" y="1764792"/>
            <a:ext cx="8138160" cy="713232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640080" y="1764792"/>
            <a:ext cx="54864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749808" y="1819656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Key Technique: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2423160" y="1819656"/>
            <a:ext cx="6217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Discriminative LRs + staged unfreezing proved crucial — freezing the backbone first prevented overwriting general visual features too early.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640080" y="2569464"/>
            <a:ext cx="8138160" cy="713232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640080" y="2569464"/>
            <a:ext cx="54864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749808" y="26243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Robustness: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2423160" y="2624328"/>
            <a:ext cx="6217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Dual imbalance handling (sampler + loss weights + label smoothing) was essential to prevent collapse on minority classes like Disgust.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640080" y="3374136"/>
            <a:ext cx="8138160" cy="713232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640080" y="3374136"/>
            <a:ext cx="54864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749808" y="34290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Interpretability: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2423160" y="3429000"/>
            <a:ext cx="6217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Grad-CAM confirmed the model reasons about genuine facial structures, not spurious background correlations.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640080" y="4178808"/>
            <a:ext cx="8138160" cy="713232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640080" y="4178808"/>
            <a:ext cx="54864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749808" y="42336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Future Work: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2423160" y="4233672"/>
            <a:ext cx="6217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Vision Transformers (ViT, DeiT), larger datasets (AffectNet), and multi-modal fusion (face + body pose) could push well beyond 65%.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4A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7132320" y="3291840"/>
            <a:ext cx="2286000" cy="22860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685800" y="1005840"/>
            <a:ext cx="7772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libri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685800" y="2240280"/>
            <a:ext cx="5486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3600"/>
              <a:buFont typeface="Calibri"/>
              <a:buNone/>
            </a:pPr>
            <a:r>
              <a:rPr b="0" i="1" lang="en-US" sz="36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13"/>
          <p:cNvCxnSpPr/>
          <p:nvPr/>
        </p:nvCxnSpPr>
        <p:spPr>
          <a:xfrm>
            <a:off x="685800" y="3127248"/>
            <a:ext cx="5943600" cy="0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13"/>
          <p:cNvSpPr/>
          <p:nvPr/>
        </p:nvSpPr>
        <p:spPr>
          <a:xfrm>
            <a:off x="685800" y="3273552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Eric Amargant  ·  Eya Ben Said  ·  Marc Bosch Manzano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Group Beta  ·  Aprenentatge Profund 2025-26  ·  Prof. Laia Tarrés Benet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320040" y="868680"/>
            <a:ext cx="8503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4"/>
          <p:cNvSpPr/>
          <p:nvPr/>
        </p:nvSpPr>
        <p:spPr>
          <a:xfrm>
            <a:off x="457200" y="932688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[1] Goodfellow, I. et al. (2013). Challenges in Representation Learning: A Report on Three ML Contests. ICML Workshop.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320040" y="1389888"/>
            <a:ext cx="850392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4"/>
          <p:cNvSpPr/>
          <p:nvPr/>
        </p:nvSpPr>
        <p:spPr>
          <a:xfrm>
            <a:off x="457200" y="1453896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[2] He, K. et al. (2016). Deep Residual Learning for Image Recognition. CVPR.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320040" y="1911096"/>
            <a:ext cx="8503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457200" y="1975104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[3] Pham, L. et al. (2021). Facial Expression Recognition Using Residual Masking Network. ICPR.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320040" y="2432304"/>
            <a:ext cx="850392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4"/>
          <p:cNvSpPr/>
          <p:nvPr/>
        </p:nvSpPr>
        <p:spPr>
          <a:xfrm>
            <a:off x="457200" y="2496312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[4] Mollahosseini, A. et al. (2016). Going Deeper in Facial Expression Recognition using Deep Neural Networks. IEEE WACV.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320040" y="2953512"/>
            <a:ext cx="8503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457200" y="30175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[5] Selvaraju, R. et al. (2017). Grad-CAM: Visual Explanations from Deep Networks via Gradient-based Localization. ICCV.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320040" y="3474720"/>
            <a:ext cx="850392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457200" y="3538728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[6] PyTorch Documentation. torchvision.models.resnet18 (IMAGENET1K_V1 weights). https://pytorch.org/vision/stable/models.html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320040" y="3995928"/>
            <a:ext cx="8503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457200" y="4059936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[7] Kaggle FER2013 Dataset. https://www.kaggle.com/datasets/deadskull7/fer2013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320040" y="4517136"/>
            <a:ext cx="850392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457200" y="4581144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[8] pytorch-grad-cam library. https://github.com/jacobgil/pytorch-grad-cam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2026-05-30T08:44:44Z</dcterms:created>
  <dc:creator>PptxGenJS</dc:creator>
</cp:coreProperties>
</file>